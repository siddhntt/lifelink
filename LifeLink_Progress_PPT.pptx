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59" r:id="rId4"/>
    <p:sldId id="257" r:id="rId5"/>
    <p:sldId id="270" r:id="rId6"/>
    <p:sldId id="260" r:id="rId7"/>
    <p:sldId id="261" r:id="rId8"/>
    <p:sldId id="267" r:id="rId9"/>
    <p:sldId id="264" r:id="rId10"/>
    <p:sldId id="268" r:id="rId11"/>
    <p:sldId id="266" r:id="rId12"/>
    <p:sldId id="269" r:id="rId13"/>
    <p:sldId id="258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A4EC2-7F1C-F17F-7F97-5C38518A95AD}" v="121" dt="2026-10-05T20:30:02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6341"/>
  </p:normalViewPr>
  <p:slideViewPr>
    <p:cSldViewPr snapToGrid="0" snapToObjects="1">
      <p:cViewPr varScale="1">
        <p:scale>
          <a:sx n="93" d="100"/>
          <a:sy n="93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5447FF-1601-7456-9893-0CB361A520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7497B-C6FE-C809-D36E-36E9B594795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E366EC4-7F12-44D6-B2B7-82F734D66FC5}" type="datetimeFigureOut">
              <a:rPr lang="en-US"/>
              <a:pPr>
                <a:defRPr/>
              </a:pPr>
              <a:t>10/6/2026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ACA424A-5115-18A2-DF2A-4829DECB4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22CDF84-44C0-EF50-927B-C4D8677B9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FC2EA-E6C2-B0D7-25FA-0B119BD761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40EFB-86AE-7495-CC5F-785106327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79CB85D-238F-4D71-A147-0FDC9F1AF6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190B500B-18F3-A602-C7D3-552C2C0FFDD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3509963"/>
          </a:xfrm>
          <a:prstGeom prst="rect">
            <a:avLst/>
          </a:prstGeom>
          <a:solidFill>
            <a:srgbClr val="0C2577"/>
          </a:solidFill>
        </p:spPr>
        <p:txBody>
          <a:bodyPr lIns="0" tIns="0" rIns="0" bIns="0">
            <a:normAutofit/>
          </a:bodyPr>
          <a:lstStyle>
            <a:lvl1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None/>
              <a:defRPr sz="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71318" indent="-135659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Char char="-"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5659" indent="-135659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271318" indent="-135659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Clr>
                <a:srgbClr val="0C2577"/>
              </a:buClr>
              <a:defRPr/>
            </a:pPr>
            <a:r>
              <a:rPr lang="en-US">
                <a:solidFill>
                  <a:srgbClr val="0C2577"/>
                </a:solidFill>
                <a:latin typeface="Georgia"/>
              </a:rPr>
              <a:t>..</a:t>
            </a:r>
            <a:endParaRPr lang="en-US" dirty="0">
              <a:solidFill>
                <a:srgbClr val="0C2577"/>
              </a:solidFill>
              <a:latin typeface="Georgia"/>
            </a:endParaRP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97C33EEF-035B-CCC8-CB60-8B4A10343F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4852988"/>
            <a:ext cx="12446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061EAA96-3C2F-3535-D2EB-89221C7435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19250" y="5013325"/>
            <a:ext cx="5559425" cy="923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IN" altLang="en-US" b="1">
                <a:solidFill>
                  <a:srgbClr val="23298A"/>
                </a:solidFill>
                <a:latin typeface="Georgia" panose="02040502050405020303" pitchFamily="18" charset="0"/>
              </a:rPr>
              <a:t>Dr. Shyama Prasad Mukherjee International Institute of Information Technology, Naya Raipur </a:t>
            </a:r>
            <a:endParaRPr lang="en-US" altLang="en-US" b="1">
              <a:solidFill>
                <a:srgbClr val="23298A"/>
              </a:solidFill>
              <a:latin typeface="Georgia" panose="02040502050405020303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A7E4ABE-E4BF-F135-C22E-42A61579A93E}"/>
              </a:ext>
            </a:extLst>
          </p:cNvPr>
          <p:cNvSpPr txBox="1">
            <a:spLocks/>
          </p:cNvSpPr>
          <p:nvPr userDrawn="1"/>
        </p:nvSpPr>
        <p:spPr>
          <a:xfrm>
            <a:off x="8374063" y="3787775"/>
            <a:ext cx="3171825" cy="4270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000" dirty="0"/>
              <a:t>Date:</a:t>
            </a:r>
          </a:p>
        </p:txBody>
      </p:sp>
      <p:sp>
        <p:nvSpPr>
          <p:cNvPr id="11" name="Tijdelijke aanduiding voor tekst 5"/>
          <p:cNvSpPr>
            <a:spLocks noGrp="1"/>
          </p:cNvSpPr>
          <p:nvPr>
            <p:ph type="body" sz="quarter" idx="13"/>
          </p:nvPr>
        </p:nvSpPr>
        <p:spPr>
          <a:xfrm>
            <a:off x="1" y="3509963"/>
            <a:ext cx="12191999" cy="1011980"/>
          </a:xfrm>
          <a:solidFill>
            <a:srgbClr val="8592BC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35125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2166" y="3787947"/>
            <a:ext cx="6445405" cy="508225"/>
          </a:xfrm>
        </p:spPr>
        <p:txBody>
          <a:bodyPr>
            <a:normAutofit/>
          </a:bodyPr>
          <a:lstStyle>
            <a:lvl1pPr marL="0" marR="0" indent="0" algn="l" defTabSz="685434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rgbClr val="0C2577"/>
              </a:buClr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4178577-49AF-323E-8FF6-AE27CB02A07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ctr"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69833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261D6929-3B5D-DAF7-3881-B62398BD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6557963"/>
            <a:ext cx="2209800" cy="300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CEAA2-18E4-4ABF-A658-7FD43C54023E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0CB04EB8-F154-EC28-EA7C-CCBB159B0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Naya Raipur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EEE0E201-5306-A1AC-EA3D-F62CD8A0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29775" y="6492875"/>
            <a:ext cx="1979613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7823D5-0946-4958-A6EB-D385D0A790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99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9742D-43D3-B4D4-D958-70A60261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37569-103A-4E32-8D83-F5AC72350FC7}" type="datetime1">
              <a:rPr lang="en-IN"/>
              <a:pPr>
                <a:defRPr/>
              </a:pPr>
              <a:t>06-10-2026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E478E-FA1F-41CF-56BE-D7C334F4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6900" y="6492875"/>
            <a:ext cx="528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Naya Raipur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87880-4AFB-C6DD-7747-81B165F1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403517-F6C8-4C34-9C4B-96D43E5599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22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BD5CB67-0544-781E-0A92-4F10755C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18408-F181-4651-92B6-FBC053C0C166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44E54A-2962-FF42-71D7-15BE7E1876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62608-5AE6-4DF3-8316-E7D560953A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F2D7E-E051-2551-BD72-A973264E81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6550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507F2DD-62D3-81FE-CB04-1C86CC84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7A267-9538-459C-B455-F1069FAFD884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8CDD87-0A38-A6DF-8030-0D514869D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A7A90-32A7-42D3-AE31-5E9EE4F1D1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CC2610-6BD9-3169-DBED-5889B9E359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383285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1081BE-61B4-1F19-58D8-502FFA60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F1FCA-D2FA-4487-AE2F-3DB666CFDD3C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F12C50-12CD-44E0-6E38-537F795A62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508B0-5AF7-4F08-83FC-CA4DA2FED0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5EB1D-6980-E446-7A5E-E31366C4A7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932048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>
                <a:solidFill>
                  <a:srgbClr val="002060"/>
                </a:solidFill>
              </a:defRPr>
            </a:lvl2pPr>
            <a:lvl3pPr>
              <a:defRPr sz="2400">
                <a:solidFill>
                  <a:srgbClr val="002060"/>
                </a:solidFill>
              </a:defRPr>
            </a:lvl3pPr>
            <a:lvl4pPr>
              <a:defRPr sz="2000">
                <a:solidFill>
                  <a:srgbClr val="002060"/>
                </a:solidFill>
              </a:defRPr>
            </a:lvl4pPr>
            <a:lvl5pPr>
              <a:defRPr sz="2000">
                <a:solidFill>
                  <a:srgbClr val="002060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0206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09977E-7066-4EE5-3EF8-D7341FDA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7B657-0803-43D2-90AD-1630ACB4FCDB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EFE1-BAE2-A5C4-846B-7D4091B2F2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08712-E32A-46DE-A048-95EA52004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D0EE00C-A27D-3535-BADE-1C4F165489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35090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0206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F24328D-2492-DED5-0E47-287218FD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23781-BDDE-4DD6-8EEE-32E23F6B63ED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7B67A-83D8-6A85-D85D-E1E923D59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BCBEE-1424-4BDD-A093-26D4C7C527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64C259-D021-2EC3-151B-5CE181933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124076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E51AC-997E-1D9D-C22E-AA115B48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4D960-3093-43FA-82C7-4993D59028DF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D93EF22-B1CD-B8C4-D0F2-A6808F190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7676E-C1FF-46B8-AA26-F0ADFA96EA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12C099-21EF-EB1F-BAF5-F13D711FE9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04078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3E1B6-4E0A-296D-10CC-FB16FF10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45C1A-B417-4A74-9EAC-07EE61BDA51C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F61A651-0DD5-2EBB-C6AB-E978ED40D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94049-A9D2-44E4-A43C-FF4EFE5764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232A19-617B-499A-AFD0-F1919E132F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356405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19">
            <a:extLst>
              <a:ext uri="{FF2B5EF4-FFF2-40B4-BE49-F238E27FC236}">
                <a16:creationId xmlns:a16="http://schemas.microsoft.com/office/drawing/2014/main" id="{9ADC93A6-9F4F-8A4D-4E81-90F979A52261}"/>
              </a:ext>
            </a:extLst>
          </p:cNvPr>
          <p:cNvSpPr/>
          <p:nvPr userDrawn="1"/>
        </p:nvSpPr>
        <p:spPr bwMode="auto">
          <a:xfrm>
            <a:off x="0" y="6465888"/>
            <a:ext cx="12192000" cy="404812"/>
          </a:xfrm>
          <a:prstGeom prst="rect">
            <a:avLst/>
          </a:prstGeom>
          <a:solidFill>
            <a:srgbClr val="0C2577"/>
          </a:solidFill>
          <a:ln>
            <a:noFill/>
          </a:ln>
          <a:effectLst/>
        </p:spPr>
        <p:txBody>
          <a:bodyPr lIns="68544" tIns="34272" rIns="68544" bIns="34272"/>
          <a:lstStyle/>
          <a:p>
            <a:pPr defTabSz="685434" eaLnBrk="1" hangingPunct="1">
              <a:lnSpc>
                <a:spcPct val="95000"/>
              </a:lnSpc>
              <a:buFont typeface="Arial" charset="0"/>
              <a:buNone/>
              <a:defRPr/>
            </a:pPr>
            <a:endParaRPr lang="en-US" sz="1499" kern="0" dirty="0">
              <a:solidFill>
                <a:srgbClr val="FFFFFF"/>
              </a:solidFill>
              <a:latin typeface="Minion" pitchFamily="2" charset="0"/>
            </a:endParaRPr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D2966A4B-79EE-AAAC-71C4-A4DB7537E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A06E353-1254-3691-AB81-24C591054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B120B-5258-CFF6-3AC7-7C36EBF2B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6518275"/>
            <a:ext cx="2209800" cy="300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193F668-1CEE-4D83-A174-53D8C69DA7F6}" type="datetime1">
              <a:rPr lang="en-IN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BF5D-BCFD-2736-7E1A-50197334E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07550" y="6453188"/>
            <a:ext cx="197961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3BCD7B-F7CF-4B57-A9CE-D6DACFD741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8D0C4012-1912-9D01-65F5-DA2D5B4418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550" y="230188"/>
            <a:ext cx="14605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5155236-8038-19BB-4D4D-40B097DA1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59088" y="6492875"/>
            <a:ext cx="6597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5">
            <a:extLst>
              <a:ext uri="{FF2B5EF4-FFF2-40B4-BE49-F238E27FC236}">
                <a16:creationId xmlns:a16="http://schemas.microsoft.com/office/drawing/2014/main" id="{F586767C-3888-0F54-325F-48592D7CCAC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3045757"/>
            <a:ext cx="12192000" cy="1781994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7" name="Title 3">
            <a:extLst>
              <a:ext uri="{FF2B5EF4-FFF2-40B4-BE49-F238E27FC236}">
                <a16:creationId xmlns:a16="http://schemas.microsoft.com/office/drawing/2014/main" id="{96848C63-B298-186C-9753-F7874BBB37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t>LifeLink: Smart Blood Donation &amp; Emergency Coordination Platform</a:t>
            </a:r>
          </a:p>
        </p:txBody>
      </p:sp>
      <p:sp>
        <p:nvSpPr>
          <p:cNvPr id="6148" name="Subtitle 4">
            <a:extLst>
              <a:ext uri="{FF2B5EF4-FFF2-40B4-BE49-F238E27FC236}">
                <a16:creationId xmlns:a16="http://schemas.microsoft.com/office/drawing/2014/main" id="{A65FFAF3-01B0-F45A-C95D-87097ED9E8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01748" y="3174289"/>
            <a:ext cx="6002063" cy="597667"/>
          </a:xfrm>
        </p:spPr>
        <p:txBody>
          <a:bodyPr>
            <a:normAutofit fontScale="92500"/>
          </a:bodyPr>
          <a:lstStyle/>
          <a:p>
            <a:pPr defTabSz="684213" fontAlgn="base"/>
            <a:r>
              <a:rPr dirty="0">
                <a:solidFill>
                  <a:srgbClr val="002060"/>
                </a:solidFill>
                <a:latin typeface="Georgia"/>
              </a:rPr>
              <a:t>Supervisor name:</a:t>
            </a:r>
            <a:r>
              <a:rPr lang="en-US" dirty="0">
                <a:solidFill>
                  <a:srgbClr val="002060"/>
                </a:solidFill>
                <a:latin typeface="Georgia"/>
              </a:rPr>
              <a:t> </a:t>
            </a:r>
            <a:r>
              <a:rPr lang="en-US" dirty="0">
                <a:solidFill>
                  <a:schemeClr val="tx1"/>
                </a:solidFill>
                <a:latin typeface="Georgia"/>
              </a:rPr>
              <a:t>Dr. Punya Prasanna </a:t>
            </a:r>
            <a:r>
              <a:rPr lang="en-US" dirty="0" err="1">
                <a:solidFill>
                  <a:schemeClr val="tx1"/>
                </a:solidFill>
                <a:latin typeface="Georgia"/>
              </a:rPr>
              <a:t>Paltani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149" name="TextBox 8">
            <a:extLst>
              <a:ext uri="{FF2B5EF4-FFF2-40B4-BE49-F238E27FC236}">
                <a16:creationId xmlns:a16="http://schemas.microsoft.com/office/drawing/2014/main" id="{3D3BB8FF-3B92-1E23-2711-6F03A26B2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3160" y="4056117"/>
            <a:ext cx="3106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sz="2400" dirty="0">
                <a:latin typeface="Georgia"/>
              </a:rPr>
              <a:t>Date: </a:t>
            </a:r>
            <a:r>
              <a:rPr lang="en-US" sz="2400" dirty="0">
                <a:latin typeface="Georgia"/>
              </a:rPr>
              <a:t>06-10-2026</a:t>
            </a:r>
            <a:endParaRPr sz="2400" dirty="0">
              <a:latin typeface="Georgia"/>
            </a:endParaRPr>
          </a:p>
        </p:txBody>
      </p:sp>
      <p:sp>
        <p:nvSpPr>
          <p:cNvPr id="6150" name="Footer Placeholder 9">
            <a:extLst>
              <a:ext uri="{FF2B5EF4-FFF2-40B4-BE49-F238E27FC236}">
                <a16:creationId xmlns:a16="http://schemas.microsoft.com/office/drawing/2014/main" id="{F7EB87D5-3859-E55A-B4BF-AA690DF08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0" y="6492875"/>
            <a:ext cx="60055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6151" name="Subtitle 4">
            <a:extLst>
              <a:ext uri="{FF2B5EF4-FFF2-40B4-BE49-F238E27FC236}">
                <a16:creationId xmlns:a16="http://schemas.microsoft.com/office/drawing/2014/main" id="{2E694427-DAE2-5F3B-DD79-E862E4460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30" y="3176807"/>
            <a:ext cx="5634201" cy="1210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6842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450"/>
              </a:spcBef>
              <a:spcAft>
                <a:spcPts val="450"/>
              </a:spcAft>
              <a:buClr>
                <a:srgbClr val="0C2577"/>
              </a:buClr>
              <a:buNone/>
            </a:pPr>
            <a:r>
              <a:rPr sz="2400" dirty="0">
                <a:solidFill>
                  <a:srgbClr val="002060"/>
                </a:solidFill>
                <a:latin typeface="Georgia"/>
              </a:rPr>
              <a:t>Group Member name:</a:t>
            </a:r>
            <a:r>
              <a:rPr lang="en-US" sz="2400" dirty="0">
                <a:solidFill>
                  <a:srgbClr val="002060"/>
                </a:solidFill>
                <a:latin typeface="Georgia"/>
              </a:rPr>
              <a:t> 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pPr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400" dirty="0">
                <a:latin typeface="Georgia"/>
              </a:rPr>
              <a:t>Siddhant Singh</a:t>
            </a:r>
            <a:br>
              <a:rPr lang="en-US" sz="2400" dirty="0">
                <a:latin typeface="Georgia"/>
              </a:rPr>
            </a:br>
            <a:r>
              <a:rPr lang="en-US" sz="2400" dirty="0">
                <a:latin typeface="Georgia"/>
              </a:rPr>
              <a:t>Akhil </a:t>
            </a:r>
            <a:r>
              <a:rPr lang="en-US" sz="2400" dirty="0" err="1">
                <a:latin typeface="Georgia"/>
              </a:rPr>
              <a:t>Nirala</a:t>
            </a:r>
            <a:br>
              <a:rPr lang="en-US" sz="2400" dirty="0">
                <a:latin typeface="Georgia"/>
              </a:rPr>
            </a:br>
            <a:r>
              <a:rPr lang="en-US" sz="2400" dirty="0">
                <a:latin typeface="Georgia"/>
              </a:rPr>
              <a:t>Rahul Barma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1">
            <a:extLst>
              <a:ext uri="{FF2B5EF4-FFF2-40B4-BE49-F238E27FC236}">
                <a16:creationId xmlns:a16="http://schemas.microsoft.com/office/drawing/2014/main" id="{4BE958C8-5038-5554-86C2-3C4DF700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350"/>
            <a:ext cx="10515600" cy="4646613"/>
          </a:xfrm>
        </p:spPr>
        <p:txBody>
          <a:bodyPr/>
          <a:lstStyle/>
          <a:p>
            <a:pPr>
              <a:defRPr/>
            </a:pPr>
            <a:r>
              <a:rPr sz="2000"/>
              <a:t>Introduction</a:t>
            </a:r>
          </a:p>
          <a:p>
            <a:r>
              <a:rPr sz="2000"/>
              <a:t>Motivation: Issues and Challenges</a:t>
            </a:r>
          </a:p>
          <a:p>
            <a:r>
              <a:rPr sz="2000"/>
              <a:t>Literature Review (Technology Stack)</a:t>
            </a:r>
          </a:p>
          <a:p>
            <a:r>
              <a:rPr sz="2000"/>
              <a:t>Problem Definition</a:t>
            </a:r>
          </a:p>
          <a:p>
            <a:r>
              <a:rPr sz="2000"/>
              <a:t>Research Gap / Identified Challenges</a:t>
            </a:r>
          </a:p>
          <a:p>
            <a:r>
              <a:rPr sz="2000"/>
              <a:t>Objectives of the Project</a:t>
            </a:r>
          </a:p>
          <a:p>
            <a:r>
              <a:rPr sz="2000"/>
              <a:t>Proposed Framework/System Architecture</a:t>
            </a:r>
          </a:p>
          <a:p>
            <a:pPr lvl="1"/>
            <a:r>
              <a:rPr sz="1600"/>
              <a:t>    System Components &amp; Data Models</a:t>
            </a:r>
          </a:p>
          <a:p>
            <a:r>
              <a:rPr sz="2000"/>
              <a:t>Database Description (Schema &amp; Models)</a:t>
            </a:r>
          </a:p>
          <a:p>
            <a:r>
              <a:rPr sz="2000"/>
              <a:t>Experimental Results and Discussion</a:t>
            </a:r>
          </a:p>
          <a:p>
            <a:r>
              <a:rPr sz="2000"/>
              <a:t>Conclusion and Future Directions</a:t>
            </a:r>
          </a:p>
          <a:p>
            <a:r>
              <a:rPr sz="2000"/>
              <a:t>Plan of Action for Remaining Work</a:t>
            </a:r>
          </a:p>
        </p:txBody>
      </p:sp>
      <p:sp>
        <p:nvSpPr>
          <p:cNvPr id="7171" name="Title 2">
            <a:extLst>
              <a:ext uri="{FF2B5EF4-FFF2-40B4-BE49-F238E27FC236}">
                <a16:creationId xmlns:a16="http://schemas.microsoft.com/office/drawing/2014/main" id="{76D46D9F-06AF-595A-5FEB-17EA1411F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IN" altLang="en-US"/>
              <a:t>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75A62-7F05-F6F7-87A7-C24214E214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BD8CA12B-DD03-BF3B-500D-7395E26B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01A0208E-0F7F-10E0-AFA4-278E094E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21C3355-73A1-4B6A-B037-44323DCB3F4C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>
            <a:extLst>
              <a:ext uri="{FF2B5EF4-FFF2-40B4-BE49-F238E27FC236}">
                <a16:creationId xmlns:a16="http://schemas.microsoft.com/office/drawing/2014/main" id="{8CB21EEF-A81A-A2A8-2988-918A178F0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500" y="1690688"/>
            <a:ext cx="10515600" cy="4351337"/>
          </a:xfrm>
        </p:spPr>
        <p:txBody>
          <a:bodyPr/>
          <a:lstStyle/>
          <a:p>
            <a:pPr algn="just" eaLnBrk="1" hangingPunct="1"/>
            <a:r>
              <a:rPr sz="2000" dirty="0"/>
              <a:t>Traditional blood procurement during emergencies is plagued by manual, fragmented, and geographically inefficient processes that cost lives during the critical Golden Hour.</a:t>
            </a:r>
          </a:p>
          <a:p>
            <a:r>
              <a:rPr sz="2000" dirty="0"/>
              <a:t>Key Problems Identified:</a:t>
            </a:r>
            <a:endParaRPr sz="2000" dirty="0">
              <a:ea typeface="Calibri"/>
              <a:cs typeface="Calibri"/>
            </a:endParaRPr>
          </a:p>
          <a:p>
            <a:pPr lvl="1"/>
            <a:r>
              <a:rPr sz="1800" dirty="0"/>
              <a:t>No centralized automated system exists to match blood donors with hospitals based on proximity, compatibility, and real-time availability simultaneously.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Blood banks operate in silos — hospitals cannot view live inventory across multiple blood banks in a unified interface.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No real-time tracking mechanism exists for donors who have agreed to donate — surgical teams operate blindly on ETAs.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Existing systems lack clinical safety enforcement (age, weight, 90-day cooling-off) integrated into the matching workflow</a:t>
            </a:r>
            <a:r>
              <a:rPr lang="en-US" sz="1800" dirty="0"/>
              <a:t>.</a:t>
            </a:r>
            <a:endParaRPr sz="1800" dirty="0">
              <a:ea typeface="Calibri"/>
              <a:cs typeface="Calibri"/>
            </a:endParaRPr>
          </a:p>
        </p:txBody>
      </p:sp>
      <p:sp>
        <p:nvSpPr>
          <p:cNvPr id="11267" name="Title 2">
            <a:extLst>
              <a:ext uri="{FF2B5EF4-FFF2-40B4-BE49-F238E27FC236}">
                <a16:creationId xmlns:a16="http://schemas.microsoft.com/office/drawing/2014/main" id="{69F31F63-8CCE-E3A9-A5A2-3348739BE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79000" cy="1325563"/>
          </a:xfrm>
        </p:spPr>
        <p:txBody>
          <a:bodyPr/>
          <a:lstStyle/>
          <a:p>
            <a:pPr eaLnBrk="1" hangingPunct="1"/>
            <a:r>
              <a:rPr lang="en-US" altLang="en-US" b="1"/>
              <a:t>Problem Definition</a:t>
            </a:r>
          </a:p>
        </p:txBody>
      </p:sp>
      <p:sp>
        <p:nvSpPr>
          <p:cNvPr id="11268" name="Date Placeholder 3">
            <a:extLst>
              <a:ext uri="{FF2B5EF4-FFF2-40B4-BE49-F238E27FC236}">
                <a16:creationId xmlns:a16="http://schemas.microsoft.com/office/drawing/2014/main" id="{394D4321-F44F-50F5-21DA-0095F4B3F26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873A42E2-EB6C-4706-9FFD-FF01BA1CA30C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1269" name="Footer Placeholder 4">
            <a:extLst>
              <a:ext uri="{FF2B5EF4-FFF2-40B4-BE49-F238E27FC236}">
                <a16:creationId xmlns:a16="http://schemas.microsoft.com/office/drawing/2014/main" id="{8B402761-1838-E67E-3534-11B11F0133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1270" name="Slide Number Placeholder 5">
            <a:extLst>
              <a:ext uri="{FF2B5EF4-FFF2-40B4-BE49-F238E27FC236}">
                <a16:creationId xmlns:a16="http://schemas.microsoft.com/office/drawing/2014/main" id="{742FAE7F-886E-57DC-9B78-D90E6D75F4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ACB9A8F-1C5F-41D3-AD93-41BBF1ACB51B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2BA55F4-B080-0C5C-404D-2EBA8DD07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US" altLang="en-US" b="1" dirty="0"/>
              <a:t>Introduction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8F63F0C-D690-0DF1-9920-23F1FBAF28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sz="2000" dirty="0" err="1"/>
              <a:t>LifeLink</a:t>
            </a:r>
            <a:r>
              <a:rPr sz="2000" dirty="0"/>
              <a:t> is an intelligent, automated, real-time emergency blood dispatch platform designed to bridge the critical time gap during medical emergencies.</a:t>
            </a:r>
            <a:endParaRPr lang="en-US" altLang="en-US" dirty="0"/>
          </a:p>
          <a:p>
            <a:r>
              <a:rPr sz="2000" dirty="0"/>
              <a:t>Functions as a 911 dispatch network combined with an Uber-like live GPS tracking radar for blood donors.</a:t>
            </a:r>
            <a:endParaRPr sz="2000" dirty="0">
              <a:ea typeface="Calibri"/>
              <a:cs typeface="Calibri"/>
            </a:endParaRPr>
          </a:p>
          <a:p>
            <a:r>
              <a:rPr sz="2000" dirty="0"/>
              <a:t>Core capabilities:</a:t>
            </a:r>
            <a:endParaRPr sz="2000" dirty="0">
              <a:ea typeface="Calibri"/>
              <a:cs typeface="Calibri"/>
            </a:endParaRPr>
          </a:p>
          <a:p>
            <a:pPr lvl="1"/>
            <a:r>
              <a:rPr sz="1600" dirty="0"/>
              <a:t>30-Second Emergency Dispatch: Hospitals broadcast urgent blood requirements in seconds</a:t>
            </a:r>
            <a:endParaRPr sz="1600" dirty="0">
              <a:ea typeface="Calibri"/>
              <a:cs typeface="Calibri"/>
            </a:endParaRPr>
          </a:p>
          <a:p>
            <a:pPr lvl="1"/>
            <a:r>
              <a:rPr sz="1600" dirty="0"/>
              <a:t>Automated Compatibility &amp; Proximity Matching: Discovers eligible donors using geospatial search and medical safety rules</a:t>
            </a:r>
            <a:endParaRPr sz="1600" dirty="0">
              <a:ea typeface="Calibri"/>
              <a:cs typeface="Calibri"/>
            </a:endParaRPr>
          </a:p>
          <a:p>
            <a:pPr lvl="1"/>
            <a:r>
              <a:rPr sz="1600" dirty="0"/>
              <a:t>Dynamic Expanding Search Radius: Auto-expands in stages (5km → 10km → 20km → 50km) if units aren't fulfilled</a:t>
            </a:r>
            <a:endParaRPr sz="1600" dirty="0">
              <a:ea typeface="Calibri"/>
              <a:cs typeface="Calibri"/>
            </a:endParaRPr>
          </a:p>
          <a:p>
            <a:pPr lvl="1"/>
            <a:r>
              <a:rPr sz="1600" dirty="0"/>
              <a:t>Live Donor Transit Radar: Hospitals watch accepted donors travel toward the hospital in real-time on an interactive map</a:t>
            </a:r>
            <a:endParaRPr sz="1600" dirty="0">
              <a:ea typeface="Calibri"/>
              <a:cs typeface="Calibri"/>
            </a:endParaRPr>
          </a:p>
          <a:p>
            <a:pPr lvl="1"/>
            <a:r>
              <a:rPr sz="1600" dirty="0"/>
              <a:t>Centralized Inventory &amp; Safe Reservations: ACID transactions guarantee blood units are never </a:t>
            </a:r>
            <a:r>
              <a:rPr lang="en-US" sz="1600" dirty="0"/>
              <a:t>double-booked</a:t>
            </a:r>
            <a:endParaRPr sz="1600" dirty="0"/>
          </a:p>
        </p:txBody>
      </p:sp>
      <p:sp>
        <p:nvSpPr>
          <p:cNvPr id="8196" name="Date Placeholder 5">
            <a:extLst>
              <a:ext uri="{FF2B5EF4-FFF2-40B4-BE49-F238E27FC236}">
                <a16:creationId xmlns:a16="http://schemas.microsoft.com/office/drawing/2014/main" id="{FFB5A4F5-882D-A546-7939-416CFF6F71F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F115B26-AC71-4877-AE35-A31E47AED439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8197" name="Slide Number Placeholder 6">
            <a:extLst>
              <a:ext uri="{FF2B5EF4-FFF2-40B4-BE49-F238E27FC236}">
                <a16:creationId xmlns:a16="http://schemas.microsoft.com/office/drawing/2014/main" id="{462CB3D0-6E29-EA62-8E9E-9D4BF774F0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F310B35-E2FB-45CE-A1BC-29B243DD2B45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8198" name="Footer Placeholder 9">
            <a:extLst>
              <a:ext uri="{FF2B5EF4-FFF2-40B4-BE49-F238E27FC236}">
                <a16:creationId xmlns:a16="http://schemas.microsoft.com/office/drawing/2014/main" id="{661EF079-C6DF-83FD-3050-595EB2158C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6636F8B-1E40-A961-9457-8C4D0DCA7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US" altLang="en-US" b="1"/>
              <a:t>Motivation: Issues and Challenges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DEBFD92-6CF2-4612-A6BF-3F7AB5BF99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sz="2000"/>
              <a:t>During critical medical emergencies (severe trauma, complex surgeries, post-partum hemorrhages), the first hour — the "Golden Hour" — determines patient survival.</a:t>
            </a:r>
            <a:endParaRPr lang="en-US" altLang="en-US"/>
          </a:p>
          <a:p>
            <a:r>
              <a:rPr sz="2000"/>
              <a:t>Current blood procurement is plagued by:</a:t>
            </a:r>
          </a:p>
          <a:p>
            <a:pPr lvl="1"/>
            <a:r>
              <a:rPr sz="1600"/>
              <a:t>Chaotic, Manual Communication: Frantic WhatsApp forwards, social media posts, and desperate phone calls</a:t>
            </a:r>
          </a:p>
          <a:p>
            <a:pPr lvl="1"/>
            <a:r>
              <a:rPr sz="1600"/>
              <a:t>Geographic Inefficiency: Donors 30 km away are called while compatible donors 2 km away remain unaware</a:t>
            </a:r>
          </a:p>
          <a:p>
            <a:pPr lvl="1"/>
            <a:r>
              <a:rPr sz="1600"/>
              <a:t>Donor Fatigue &amp; Spam: Donors contacted when busy, traveling, or ineligible due to recent donation</a:t>
            </a:r>
          </a:p>
          <a:p>
            <a:pPr lvl="1"/>
            <a:r>
              <a:rPr sz="1600"/>
              <a:t>Fragmented Blood Bank Visibility: Hospitals lack knowledge of which blood bank holds compatible units</a:t>
            </a:r>
          </a:p>
          <a:p>
            <a:pPr lvl="1"/>
            <a:r>
              <a:rPr sz="1600"/>
              <a:t>Lack of Transit Visibility: No way to track if or when an agreed donor will actually arrive at the hospital</a:t>
            </a:r>
          </a:p>
        </p:txBody>
      </p:sp>
      <p:sp>
        <p:nvSpPr>
          <p:cNvPr id="9220" name="Date Placeholder 5">
            <a:extLst>
              <a:ext uri="{FF2B5EF4-FFF2-40B4-BE49-F238E27FC236}">
                <a16:creationId xmlns:a16="http://schemas.microsoft.com/office/drawing/2014/main" id="{88AEEB60-557C-E5E3-6934-5D510AC3C95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89EB048-EA59-454C-9A5C-169AC5557AA3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9221" name="Slide Number Placeholder 6">
            <a:extLst>
              <a:ext uri="{FF2B5EF4-FFF2-40B4-BE49-F238E27FC236}">
                <a16:creationId xmlns:a16="http://schemas.microsoft.com/office/drawing/2014/main" id="{AA5AA0D1-3895-1ADF-B721-FDE584622C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871F736-F9B5-432E-889C-E8B0B0B4397A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9222" name="Footer Placeholder 9">
            <a:extLst>
              <a:ext uri="{FF2B5EF4-FFF2-40B4-BE49-F238E27FC236}">
                <a16:creationId xmlns:a16="http://schemas.microsoft.com/office/drawing/2014/main" id="{9F7D488A-DC79-C487-BC2F-0C181D35ED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32976B8-98A4-2AF9-567E-5EA972C9E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US" altLang="en-US" b="1" dirty="0"/>
              <a:t>Technology Stack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F69F3F9-3438-EEAA-345C-66E88BF179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6588" y="1682750"/>
            <a:ext cx="10515600" cy="3516313"/>
          </a:xfrm>
        </p:spPr>
        <p:txBody>
          <a:bodyPr/>
          <a:lstStyle/>
          <a:p>
            <a:pPr eaLnBrk="1" hangingPunct="1"/>
            <a:r>
              <a:rPr sz="1800"/>
              <a:t>Comprehensive Technology Stack Matrix:</a:t>
            </a:r>
            <a:endParaRPr lang="en-US" altLang="en-US" sz="1800">
              <a:ea typeface="Calibri"/>
              <a:cs typeface="Calibri"/>
            </a:endParaRPr>
          </a:p>
          <a:p>
            <a:pPr lvl="1"/>
            <a:r>
              <a:rPr sz="1800" dirty="0"/>
              <a:t>Frontend: React 18 with Vite for fast rendering, Tailwind CSS for responsive design, Leaflet + OpenStreetMap for geospatial mapping</a:t>
            </a:r>
            <a:endParaRPr sz="1800">
              <a:ea typeface="Calibri"/>
              <a:cs typeface="Calibri"/>
            </a:endParaRPr>
          </a:p>
          <a:p>
            <a:pPr lvl="1"/>
            <a:r>
              <a:rPr sz="1800" dirty="0"/>
              <a:t>Real-Time: Socket.IO for instant room-based alerts, Firebase Cloud Messaging (FCM) for background push notifications</a:t>
            </a:r>
            <a:endParaRPr sz="1800">
              <a:ea typeface="Calibri"/>
              <a:cs typeface="Calibri"/>
            </a:endParaRPr>
          </a:p>
          <a:p>
            <a:pPr lvl="1"/>
            <a:r>
              <a:rPr sz="1800" dirty="0"/>
              <a:t>Backend: Node.js (v18+) with Express.js, PostgreSQL (</a:t>
            </a:r>
            <a:r>
              <a:rPr sz="1800" err="1"/>
              <a:t>Supabase</a:t>
            </a:r>
            <a:r>
              <a:rPr sz="1800" dirty="0"/>
              <a:t>) with Prisma ORM for database and migrations</a:t>
            </a:r>
            <a:endParaRPr sz="1800">
              <a:ea typeface="Calibri"/>
              <a:cs typeface="Calibri"/>
            </a:endParaRPr>
          </a:p>
          <a:p>
            <a:pPr lvl="1"/>
            <a:r>
              <a:rPr sz="1800" dirty="0"/>
              <a:t>Security: </a:t>
            </a:r>
            <a:r>
              <a:rPr sz="1800" err="1"/>
              <a:t>bcrypt</a:t>
            </a:r>
            <a:r>
              <a:rPr sz="1800" dirty="0"/>
              <a:t> (12 rounds) for password hashing, JWT for stateless authentication, Helmet for HTTP header hardening, Rate limiting for DDoS protection</a:t>
            </a:r>
            <a:endParaRPr sz="1800">
              <a:ea typeface="Calibri"/>
              <a:cs typeface="Calibri"/>
            </a:endParaRPr>
          </a:p>
          <a:p>
            <a:pPr lvl="1"/>
            <a:r>
              <a:rPr sz="1800" dirty="0"/>
              <a:t>Validation &amp; Docs: Zod for runtime schema validation, Swagger UI Express for interactive API documentation</a:t>
            </a:r>
            <a:endParaRPr sz="1800">
              <a:ea typeface="Calibri"/>
              <a:cs typeface="Calibri"/>
            </a:endParaRPr>
          </a:p>
          <a:p>
            <a:pPr lvl="1"/>
            <a:r>
              <a:rPr sz="1800" dirty="0"/>
              <a:t>Background Tasks: node-</a:t>
            </a:r>
            <a:r>
              <a:rPr sz="1800" err="1"/>
              <a:t>cron</a:t>
            </a:r>
            <a:r>
              <a:rPr sz="1800" dirty="0"/>
              <a:t> for periodic expiration of stale requests and shelf-life checks</a:t>
            </a:r>
            <a:endParaRPr sz="1800">
              <a:ea typeface="Calibri"/>
              <a:cs typeface="Calibri"/>
            </a:endParaRPr>
          </a:p>
          <a:p>
            <a:pPr lvl="1"/>
            <a:r>
              <a:rPr sz="1800" dirty="0"/>
              <a:t>Testing &amp; Deployment: Jest + </a:t>
            </a:r>
            <a:r>
              <a:rPr sz="1800" err="1"/>
              <a:t>Supertest</a:t>
            </a:r>
            <a:r>
              <a:rPr sz="1800" dirty="0"/>
              <a:t> for integration/unit testing, Render cloud for hosting</a:t>
            </a:r>
            <a:endParaRPr sz="1800">
              <a:ea typeface="Calibri"/>
              <a:cs typeface="Calibri"/>
            </a:endParaRPr>
          </a:p>
        </p:txBody>
      </p:sp>
      <p:sp>
        <p:nvSpPr>
          <p:cNvPr id="10244" name="Date Placeholder 5">
            <a:extLst>
              <a:ext uri="{FF2B5EF4-FFF2-40B4-BE49-F238E27FC236}">
                <a16:creationId xmlns:a16="http://schemas.microsoft.com/office/drawing/2014/main" id="{4395725B-47E4-2B1C-66A1-A692FB36BDF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D319C22-C29C-4911-B3CE-6349E65B749D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0245" name="Slide Number Placeholder 6">
            <a:extLst>
              <a:ext uri="{FF2B5EF4-FFF2-40B4-BE49-F238E27FC236}">
                <a16:creationId xmlns:a16="http://schemas.microsoft.com/office/drawing/2014/main" id="{56D32173-FDA3-A972-4243-5053B6BDC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31F00B2-30D7-4358-ACB6-700C6B70038F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0246" name="Footer Placeholder 9">
            <a:extLst>
              <a:ext uri="{FF2B5EF4-FFF2-40B4-BE49-F238E27FC236}">
                <a16:creationId xmlns:a16="http://schemas.microsoft.com/office/drawing/2014/main" id="{DA8A3205-1C20-9143-A2E5-55544770B7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5050121-C95A-86BC-F338-5D188F8DF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US" altLang="en-US" b="1"/>
              <a:t>Research Gap / Identified Challenges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F932E2B-7098-4C3F-6766-05A364EF8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000"/>
              <a:t>Gap 1 — No Integrated Geo-Temporal Matching: Existing blood donation apps lack real-time geospatial search with dynamic expanding radius stages (5km → 10km → 20km → 50km) combined with clinical eligibility filtering.</a:t>
            </a:r>
          </a:p>
          <a:p>
            <a:r>
              <a:rPr sz="2000"/>
              <a:t>Gap 2 — Absence of Live Transit Tracking: No existing platform provides hospital-side live GPS radar to track accepted donors in transit, causing uncertainty during critical emergencies.</a:t>
            </a:r>
          </a:p>
          <a:p>
            <a:r>
              <a:rPr sz="2000"/>
              <a:t>Gap 3 — Fragmented Inventory Systems: Blood bank inventories are managed in isolation; no unified platform provides cross-bank stock visibility with atomic ACID reservations preventing double-booking.</a:t>
            </a:r>
          </a:p>
          <a:p>
            <a:r>
              <a:rPr sz="2000"/>
              <a:t>Gap 4 — No Multi-Factor Donor Prioritization: Current systems use simple proximity-only matching; LifeLink introduces a weighted 4-factor scoring formula combining Distance (40%), Eligibility (25%), Availability (20%), and Response History (15%).</a:t>
            </a:r>
          </a:p>
        </p:txBody>
      </p:sp>
      <p:sp>
        <p:nvSpPr>
          <p:cNvPr id="12292" name="Date Placeholder 5">
            <a:extLst>
              <a:ext uri="{FF2B5EF4-FFF2-40B4-BE49-F238E27FC236}">
                <a16:creationId xmlns:a16="http://schemas.microsoft.com/office/drawing/2014/main" id="{F01D2F02-564F-75EB-04B8-3EC097DF2C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343EEA4-F5B7-45F8-AD67-9454A1161239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2293" name="Slide Number Placeholder 6">
            <a:extLst>
              <a:ext uri="{FF2B5EF4-FFF2-40B4-BE49-F238E27FC236}">
                <a16:creationId xmlns:a16="http://schemas.microsoft.com/office/drawing/2014/main" id="{D1311A9E-A149-1653-9788-C2F7CB8EEA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3B831E0-1122-4A2E-8593-12E392949F79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2294" name="Footer Placeholder 9">
            <a:extLst>
              <a:ext uri="{FF2B5EF4-FFF2-40B4-BE49-F238E27FC236}">
                <a16:creationId xmlns:a16="http://schemas.microsoft.com/office/drawing/2014/main" id="{5CAB308E-D5DA-DB42-F3A9-2220C0BC1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>
            <a:extLst>
              <a:ext uri="{FF2B5EF4-FFF2-40B4-BE49-F238E27FC236}">
                <a16:creationId xmlns:a16="http://schemas.microsoft.com/office/drawing/2014/main" id="{4F01397E-61A4-C11A-6C94-F05B81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63" y="1351172"/>
            <a:ext cx="10515600" cy="4351338"/>
          </a:xfrm>
        </p:spPr>
        <p:txBody>
          <a:bodyPr/>
          <a:lstStyle/>
          <a:p>
            <a:pPr>
              <a:defRPr/>
            </a:pPr>
            <a:r>
              <a:rPr sz="2000" dirty="0"/>
              <a:t>To design and develop a real-time emergency blood dispatch platform with 30-second request creation capability.</a:t>
            </a:r>
          </a:p>
          <a:p>
            <a:r>
              <a:rPr sz="2000" dirty="0"/>
              <a:t>To implement automated donor-hospital matching using geospatial proximity search with a universal blood compatibility engine.</a:t>
            </a:r>
          </a:p>
          <a:p>
            <a:r>
              <a:rPr sz="2000" dirty="0"/>
              <a:t>To build a dynamic expanding radius search system that auto-expands in timed stages when required blood units are not fulfilled.</a:t>
            </a:r>
          </a:p>
          <a:p>
            <a:r>
              <a:rPr sz="2000" dirty="0"/>
              <a:t>To create a live GPS transit radar allowing hospitals to track accepted donors traveling to the facility in real-time.</a:t>
            </a:r>
          </a:p>
          <a:p>
            <a:r>
              <a:rPr sz="2000" dirty="0"/>
              <a:t>To develop centralized blood bank inventory management with ACID transaction-based unit reservations preventing double-booking.</a:t>
            </a:r>
          </a:p>
          <a:p>
            <a:r>
              <a:rPr sz="2000" dirty="0"/>
              <a:t>To implement a clinical eligibility engine enforcing age validation (18–65), weight validation (≥45 kg), and mandatory 90-day donation intervals.</a:t>
            </a:r>
            <a:endParaRPr sz="2000" dirty="0">
              <a:ea typeface="Calibri"/>
              <a:cs typeface="Calibri"/>
            </a:endParaRPr>
          </a:p>
          <a:p>
            <a:r>
              <a:rPr sz="2000" dirty="0"/>
              <a:t>To ensure comprehensive system security with JWT authentication, bcrypt hashing, rate limiting, and role-based access control.</a:t>
            </a:r>
          </a:p>
        </p:txBody>
      </p:sp>
      <p:sp>
        <p:nvSpPr>
          <p:cNvPr id="13315" name="Title 2">
            <a:extLst>
              <a:ext uri="{FF2B5EF4-FFF2-40B4-BE49-F238E27FC236}">
                <a16:creationId xmlns:a16="http://schemas.microsoft.com/office/drawing/2014/main" id="{84D65118-7F40-C683-A684-4F1141A49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Objectives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ACBD7-4E72-F774-5747-61CC57E9791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13317" name="Footer Placeholder 4">
            <a:extLst>
              <a:ext uri="{FF2B5EF4-FFF2-40B4-BE49-F238E27FC236}">
                <a16:creationId xmlns:a16="http://schemas.microsoft.com/office/drawing/2014/main" id="{06553127-8181-267F-D3DE-30122439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3318" name="Slide Number Placeholder 5">
            <a:extLst>
              <a:ext uri="{FF2B5EF4-FFF2-40B4-BE49-F238E27FC236}">
                <a16:creationId xmlns:a16="http://schemas.microsoft.com/office/drawing/2014/main" id="{36EC1D8F-721C-8D87-F196-B048ECC3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484A1E7-E9D2-4F60-A542-94E130742CC1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2A4612F-2894-D036-5E37-BAF2B03F8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IN" altLang="en-US" b="1"/>
              <a:t>Proposed Framework / System Architecture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5006BDD-2C8A-65A4-2881-40425CCAA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2438" y="1722438"/>
            <a:ext cx="11134725" cy="4208462"/>
          </a:xfrm>
        </p:spPr>
        <p:txBody>
          <a:bodyPr/>
          <a:lstStyle/>
          <a:p>
            <a:pPr marL="514350" indent="-285750" algn="just">
              <a:lnSpc>
                <a:spcPct val="100000"/>
              </a:lnSpc>
              <a:spcBef>
                <a:spcPts val="1200"/>
              </a:spcBef>
            </a:pPr>
            <a:r>
              <a:rPr sz="2000" dirty="0" err="1"/>
              <a:t>LifeLink</a:t>
            </a:r>
            <a:r>
              <a:rPr sz="2000" dirty="0"/>
              <a:t> follows a modular full-stack architecture with the following core engines:</a:t>
            </a:r>
          </a:p>
          <a:p>
            <a:pPr lvl="1"/>
            <a:r>
              <a:rPr sz="1800" dirty="0"/>
              <a:t>Emergency Matching &amp; Dispatch Engine: 30-second request creation → duplicate detection → compatibility check → proximity scoring → staged radius expansion → multicast notifications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Multi-Factor Scoring Engine: Score = (0.40 × Distance) + (0.25 × Eligibility) + (0.20 × Availability) + (0.15 × Response History)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Real-Time Radar &amp; GPS Tracking: Socket.IO rooms, browser geolocation streaming (</a:t>
            </a:r>
            <a:r>
              <a:rPr sz="1800" err="1"/>
              <a:t>watchPosition</a:t>
            </a:r>
            <a:r>
              <a:rPr sz="1800" dirty="0"/>
              <a:t>), GPS throttling (5s intervals), </a:t>
            </a:r>
            <a:r>
              <a:rPr sz="1800" err="1"/>
              <a:t>DonorLiveLocation</a:t>
            </a:r>
            <a:r>
              <a:rPr sz="1800" dirty="0"/>
              <a:t> persistence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Clinical Safety Engine: Age (18-65), Weight (≥45kg), 90-day cooling-off validation, automatic eligibility status determination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Blood Bank Inventory Engine: ACID transaction reservations (reserve/release/</a:t>
            </a:r>
            <a:r>
              <a:rPr sz="1800" err="1"/>
              <a:t>mark_expired</a:t>
            </a:r>
            <a:r>
              <a:rPr sz="1800" dirty="0"/>
              <a:t>), shelf-life tracking, low-stock alerting (&lt;5 units)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Donor Lifecycle State Machine: NOTIFIED → VIEWED → ACCEPTED → ARRIVED → DONATION_COMPLETED</a:t>
            </a:r>
            <a:endParaRPr sz="1800" dirty="0">
              <a:ea typeface="Calibri"/>
              <a:cs typeface="Calibri"/>
            </a:endParaRPr>
          </a:p>
          <a:p>
            <a:pPr lvl="1"/>
            <a:r>
              <a:rPr sz="1800" dirty="0"/>
              <a:t>Background Automation: Hourly emergency expiry, daily inventory shelf-life check, daily appointment reminders, weekly FCM token cleanup</a:t>
            </a:r>
            <a:endParaRPr sz="1800" dirty="0">
              <a:ea typeface="Calibri"/>
              <a:cs typeface="Calibri"/>
            </a:endParaRPr>
          </a:p>
        </p:txBody>
      </p:sp>
      <p:sp>
        <p:nvSpPr>
          <p:cNvPr id="14340" name="Date Placeholder 5">
            <a:extLst>
              <a:ext uri="{FF2B5EF4-FFF2-40B4-BE49-F238E27FC236}">
                <a16:creationId xmlns:a16="http://schemas.microsoft.com/office/drawing/2014/main" id="{54695CBD-1F26-63D5-B153-90D7EE6FEE2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C7554DC-2493-4AED-B9F8-7C16D5753D5E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4341" name="Slide Number Placeholder 6">
            <a:extLst>
              <a:ext uri="{FF2B5EF4-FFF2-40B4-BE49-F238E27FC236}">
                <a16:creationId xmlns:a16="http://schemas.microsoft.com/office/drawing/2014/main" id="{D4FDF850-EF97-99FE-E6FD-868897DC19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A58FB1E-11CB-49FE-BF4E-CBD9369F2A54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4342" name="Footer Placeholder 9">
            <a:extLst>
              <a:ext uri="{FF2B5EF4-FFF2-40B4-BE49-F238E27FC236}">
                <a16:creationId xmlns:a16="http://schemas.microsoft.com/office/drawing/2014/main" id="{8ECF08C2-8D8F-749F-E7DD-DB5908715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>
            <a:extLst>
              <a:ext uri="{FF2B5EF4-FFF2-40B4-BE49-F238E27FC236}">
                <a16:creationId xmlns:a16="http://schemas.microsoft.com/office/drawing/2014/main" id="{6687FAEC-5B85-E6BF-6C52-3BCF2530BD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PostgreSQL (Supabase) with Prisma ORM — 21 relational models and 18 custom enums defining the complete domain:</a:t>
            </a:r>
          </a:p>
        </p:txBody>
      </p:sp>
      <p:sp>
        <p:nvSpPr>
          <p:cNvPr id="15363" name="Title 2">
            <a:extLst>
              <a:ext uri="{FF2B5EF4-FFF2-40B4-BE49-F238E27FC236}">
                <a16:creationId xmlns:a16="http://schemas.microsoft.com/office/drawing/2014/main" id="{DB518A6D-3BF9-9A96-CA66-D9B5AC682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Database Description (Prisma Schema)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2B66F-C902-831D-537C-E56766E997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15365" name="Footer Placeholder 4">
            <a:extLst>
              <a:ext uri="{FF2B5EF4-FFF2-40B4-BE49-F238E27FC236}">
                <a16:creationId xmlns:a16="http://schemas.microsoft.com/office/drawing/2014/main" id="{5B7775E0-310F-EC98-2103-4EF49231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A55EE86D-46AF-CE2A-C64D-96D5B262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22A8072-0AC0-4FE6-A36C-C382FD4A12E5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30F803-1B4C-61B5-4328-9F890330D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798509"/>
              </p:ext>
            </p:extLst>
          </p:nvPr>
        </p:nvGraphicFramePr>
        <p:xfrm>
          <a:off x="1371600" y="2508640"/>
          <a:ext cx="8128000" cy="332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543">
                <a:tc>
                  <a:txBody>
                    <a:bodyPr/>
                    <a:lstStyle/>
                    <a:p>
                      <a:r>
                        <a:rPr sz="1400" b="1" dirty="0"/>
                        <a:t>Model Name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Purpose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Key Fields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Relationships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sz="1400" dirty="0"/>
                        <a:t>User, </a:t>
                      </a:r>
                      <a:r>
                        <a:rPr sz="1400" dirty="0" err="1"/>
                        <a:t>DonorProfile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Core user &amp; donor data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role, status, </a:t>
                      </a:r>
                      <a:r>
                        <a:rPr sz="1400" dirty="0" err="1"/>
                        <a:t>bloodGroup</a:t>
                      </a:r>
                      <a:r>
                        <a:rPr sz="1400" dirty="0"/>
                        <a:t>, DOB, weight, eligibility, GPS coordinates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1-to-1 profile links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sz="1400"/>
                        <a:t>Hospital, BloodBank, NGO</a:t>
                      </a:r>
                      <a:endParaRPr sz="14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/>
                        <a:t>Medical facility registration</a:t>
                      </a:r>
                      <a:endParaRPr sz="14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/>
                        <a:t>name, license, address, coordinates, verification status</a:t>
                      </a:r>
                      <a:endParaRPr sz="14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/>
                        <a:t>Links to EmergencyRequest, Inventory</a:t>
                      </a:r>
                      <a:endParaRPr sz="1400" dirty="0"/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r>
                        <a:rPr sz="1400"/>
                        <a:t>EmergencyRequest, EmergencyDonorResponse</a:t>
                      </a:r>
                      <a:endParaRPr sz="14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/>
                        <a:t>Emergency dispatch &amp; response tracking</a:t>
                      </a:r>
                      <a:endParaRPr sz="14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/>
                        <a:t>bloodGroup, units, urgency, radius, status, priority score, response time</a:t>
                      </a:r>
                      <a:endParaRPr sz="1400" dirty="0"/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Hospital → Donors via </a:t>
                      </a:r>
                      <a:r>
                        <a:rPr sz="1400"/>
                        <a:t>DonorResponse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8D9D3C9F-09AB-36BB-B589-422BF099F4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5313" y="1484313"/>
            <a:ext cx="10758487" cy="4692650"/>
          </a:xfrm>
        </p:spPr>
        <p:txBody>
          <a:bodyPr/>
          <a:lstStyle/>
          <a:p>
            <a:r>
              <a:rPr sz="2000"/>
              <a:t>Key implemented features and their technical specifications:</a:t>
            </a:r>
          </a:p>
          <a:p>
            <a:r>
              <a:rPr sz="2000"/>
              <a:t>Emergency Dispatch: 30-second request creation with duplicate detection (60-min window), HIPAA-compliant patient reference privacy masking</a:t>
            </a:r>
          </a:p>
          <a:p>
            <a:r>
              <a:rPr sz="2000"/>
              <a:t>Dynamic Radius Search: 4-stage auto-expansion (5km → 10km → 20km → 50km) with 5-minute response wait, audit logging for each radius jump</a:t>
            </a:r>
          </a:p>
          <a:p>
            <a:r>
              <a:rPr sz="2000"/>
              <a:t>Live GPS Tracking: High-accuracy browser geolocation (enableHighAccuracy: true), 5-second throttling per donor, selective Socket.IO room broadcasting</a:t>
            </a:r>
          </a:p>
          <a:p>
            <a:r>
              <a:rPr sz="2000"/>
              <a:t>Multi-Factor Scoring: Weighted formula — Distance (40%) + Eligibility (25%) + Availability (20%) + Response History (15%), with fast-response bonus (&lt;10 min)</a:t>
            </a:r>
          </a:p>
          <a:p>
            <a:r>
              <a:rPr sz="2000"/>
              <a:t>Inventory Management: ACID transactions for reserve/release/mark_expired operations, expiry date and shelf-life tracking, low-stock alerting (&lt;5 units)</a:t>
            </a:r>
          </a:p>
          <a:p>
            <a:r>
              <a:rPr sz="2000"/>
              <a:t>Security: bcrypt (12 rounds), dual JWT support (bcrypt + Firebase), rate limiting (100 req/15 min/IP), Helmet HTTP hardening</a:t>
            </a:r>
          </a:p>
        </p:txBody>
      </p:sp>
      <p:sp>
        <p:nvSpPr>
          <p:cNvPr id="16387" name="Title 2">
            <a:extLst>
              <a:ext uri="{FF2B5EF4-FFF2-40B4-BE49-F238E27FC236}">
                <a16:creationId xmlns:a16="http://schemas.microsoft.com/office/drawing/2014/main" id="{C57C6512-8306-2E26-E80C-C9C4C39F8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8750"/>
            <a:ext cx="10515600" cy="944563"/>
          </a:xfrm>
        </p:spPr>
        <p:txBody>
          <a:bodyPr/>
          <a:lstStyle/>
          <a:p>
            <a:pPr eaLnBrk="1" hangingPunct="1"/>
            <a:r>
              <a:rPr lang="en-IN" altLang="en-US" b="1"/>
              <a:t>System Features &amp; Implementation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83F9E-63B7-7AEA-0F15-AADE0809EB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BA62025A-D3CE-FCB9-36EF-8A320959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CB0FC02C-FED6-0D89-2D7C-601C5B59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AD43C8-C3E7-4A67-9F46-C2BB48123724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A22485C5-D85D-0002-4ECD-2E074C2A28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82738"/>
            <a:ext cx="10763250" cy="4054475"/>
          </a:xfrm>
        </p:spPr>
        <p:txBody>
          <a:bodyPr/>
          <a:lstStyle/>
          <a:p>
            <a:r>
              <a:rPr sz="2000"/>
              <a:t>Conclusion:</a:t>
            </a:r>
            <a:endParaRPr lang="en-IN" altLang="en-US"/>
          </a:p>
          <a:p>
            <a:pPr lvl="1"/>
            <a:r>
              <a:rPr sz="1600"/>
              <a:t>LifeLink successfully bridges the critical time gap in emergency blood procurement by combining real-time geospatial matching, live GPS tracking, and clinical safety validation into a unified platform.</a:t>
            </a:r>
          </a:p>
          <a:p>
            <a:pPr lvl="1"/>
            <a:r>
              <a:rPr sz="1600"/>
              <a:t>The platform automates the entire emergency blood dispatch workflow — from 30-second request creation to </a:t>
            </a:r>
            <a:r>
              <a:rPr lang="en-US" sz="1600"/>
              <a:t>donor arrival</a:t>
            </a:r>
            <a:r>
              <a:rPr sz="1600"/>
              <a:t> tracking — replacing fragmented manual processes.</a:t>
            </a:r>
          </a:p>
          <a:p>
            <a:pPr lvl="1"/>
            <a:r>
              <a:rPr sz="1600"/>
              <a:t>ACID transaction-based inventory management ensures blood units are never double-booked across multiple emergency requests.</a:t>
            </a:r>
          </a:p>
          <a:p>
            <a:endParaRPr sz="1600"/>
          </a:p>
          <a:p>
            <a:r>
              <a:rPr sz="2000"/>
              <a:t>Future Directions:</a:t>
            </a:r>
          </a:p>
          <a:p>
            <a:pPr lvl="1"/>
            <a:r>
              <a:rPr lang="en-US" sz="1600">
                <a:ea typeface="+mn-lt"/>
                <a:cs typeface="+mn-lt"/>
              </a:rPr>
              <a:t>Turn-by-Turn Road Routing: Google Maps driving directions directly on the donor's live tracking screen.</a:t>
            </a:r>
            <a:endParaRPr>
              <a:ea typeface="Calibri"/>
              <a:cs typeface="Calibri"/>
            </a:endParaRPr>
          </a:p>
          <a:p>
            <a:pPr lvl="1"/>
            <a:r>
              <a:rPr lang="en-US" sz="1600">
                <a:ea typeface="+mn-lt"/>
                <a:cs typeface="+mn-lt"/>
              </a:rPr>
              <a:t>Downloadable Digital Certificates: Auto-generate downloadable PDF life-saver certificates with verification QR codes upon donation.</a:t>
            </a:r>
            <a:endParaRPr/>
          </a:p>
          <a:p>
            <a:pPr lvl="1"/>
            <a:r>
              <a:rPr lang="en-US" sz="1600">
                <a:ea typeface="+mn-lt"/>
                <a:cs typeface="+mn-lt"/>
              </a:rPr>
              <a:t>Inter-Hospital Stock Requests: Allow hospitals to formally request and reserve units directly from registered blood banks.</a:t>
            </a:r>
            <a:endParaRPr>
              <a:ea typeface="Calibri"/>
              <a:cs typeface="Calibri"/>
            </a:endParaRPr>
          </a:p>
          <a:p>
            <a:pPr lvl="1"/>
            <a:r>
              <a:rPr sz="1600"/>
              <a:t>Blood component separation tracking (from whole blood to platelets, plasma, RBCs) through the supply chain</a:t>
            </a:r>
            <a:r>
              <a:rPr lang="en-US" sz="1600"/>
              <a:t>.</a:t>
            </a:r>
            <a:endParaRPr sz="1600"/>
          </a:p>
        </p:txBody>
      </p:sp>
      <p:sp>
        <p:nvSpPr>
          <p:cNvPr id="17411" name="Title 2">
            <a:extLst>
              <a:ext uri="{FF2B5EF4-FFF2-40B4-BE49-F238E27FC236}">
                <a16:creationId xmlns:a16="http://schemas.microsoft.com/office/drawing/2014/main" id="{4C54B179-2994-8EEE-4A47-28B43BFEC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Conclusion and Future Directions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8A29D-B3C6-07C4-34D7-E3C1A98C3A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06-10-2026</a:t>
            </a:fld>
            <a:endParaRPr lang="en-US" dirty="0"/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AF9FA3B0-255E-058F-628E-1F46638B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7414" name="Slide Number Placeholder 5">
            <a:extLst>
              <a:ext uri="{FF2B5EF4-FFF2-40B4-BE49-F238E27FC236}">
                <a16:creationId xmlns:a16="http://schemas.microsoft.com/office/drawing/2014/main" id="{53C6401B-75BC-C463-BC8F-D591D652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64488D1-7336-4C84-8EFE-4B766B276583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1A1CC2A0-D420-40DE-D35E-4B1419194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75"/>
            <a:ext cx="12192000" cy="4727575"/>
          </a:xfrm>
          <a:prstGeom prst="rect">
            <a:avLst/>
          </a:prstGeom>
          <a:solidFill>
            <a:srgbClr val="0C25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842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69875" indent="-134938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450"/>
              </a:spcBef>
              <a:spcAft>
                <a:spcPts val="450"/>
              </a:spcAft>
              <a:buClr>
                <a:srgbClr val="0C2577"/>
              </a:buClr>
              <a:buFont typeface="Arial" panose="020B0604020202020204" pitchFamily="34" charset="0"/>
              <a:buNone/>
            </a:pPr>
            <a:r>
              <a:rPr lang="en-US" altLang="en-US" sz="100">
                <a:solidFill>
                  <a:srgbClr val="0C2577"/>
                </a:solidFill>
                <a:latin typeface="Georgia" panose="02040502050405020303" pitchFamily="18" charset="0"/>
              </a:rPr>
              <a:t>..</a:t>
            </a:r>
          </a:p>
        </p:txBody>
      </p:sp>
      <p:sp>
        <p:nvSpPr>
          <p:cNvPr id="19459" name="Title 4">
            <a:extLst>
              <a:ext uri="{FF2B5EF4-FFF2-40B4-BE49-F238E27FC236}">
                <a16:creationId xmlns:a16="http://schemas.microsoft.com/office/drawing/2014/main" id="{8E8648F8-B12D-D02B-D889-FA881FF74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863" y="15367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Georgia" panose="02040502050405020303" pitchFamily="18" charset="0"/>
              </a:rPr>
              <a:t>Thank You</a:t>
            </a: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8F4621AC-50B1-53E7-6BAB-4F022D4AB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5002213"/>
            <a:ext cx="12446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6">
            <a:extLst>
              <a:ext uri="{FF2B5EF4-FFF2-40B4-BE49-F238E27FC236}">
                <a16:creationId xmlns:a16="http://schemas.microsoft.com/office/drawing/2014/main" id="{CF731B36-86D5-EF95-E9F9-F6A5345EA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5162550"/>
            <a:ext cx="55594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b="1">
                <a:solidFill>
                  <a:srgbClr val="23298A"/>
                </a:solidFill>
                <a:latin typeface="Georgia" panose="02040502050405020303" pitchFamily="18" charset="0"/>
              </a:rPr>
              <a:t>Dr. Shyama Prasad Mukherjee International Institute of Information Technology, Naya Raipur </a:t>
            </a:r>
            <a:endParaRPr lang="en-US" altLang="en-US" sz="1800" b="1">
              <a:solidFill>
                <a:srgbClr val="23298A"/>
              </a:solidFill>
              <a:latin typeface="Georgia" panose="02040502050405020303" pitchFamily="18" charset="0"/>
            </a:endParaRPr>
          </a:p>
        </p:txBody>
      </p:sp>
      <p:sp>
        <p:nvSpPr>
          <p:cNvPr id="19462" name="Date Placeholder 7">
            <a:extLst>
              <a:ext uri="{FF2B5EF4-FFF2-40B4-BE49-F238E27FC236}">
                <a16:creationId xmlns:a16="http://schemas.microsoft.com/office/drawing/2014/main" id="{511140D2-A90F-0AC2-52BC-7855E11A90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C79336F-82C9-4F82-8F60-D276969B6199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06-10-2026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9463" name="Slide Number Placeholder 8">
            <a:extLst>
              <a:ext uri="{FF2B5EF4-FFF2-40B4-BE49-F238E27FC236}">
                <a16:creationId xmlns:a16="http://schemas.microsoft.com/office/drawing/2014/main" id="{50AC30B4-3EA5-3C09-0BAC-922C1373CF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38EAEAC-3A24-4260-9481-B826004408A0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9464" name="Footer Placeholder 12">
            <a:extLst>
              <a:ext uri="{FF2B5EF4-FFF2-40B4-BE49-F238E27FC236}">
                <a16:creationId xmlns:a16="http://schemas.microsoft.com/office/drawing/2014/main" id="{2087D508-634F-6977-C1DF-85462D78BB3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l Template IIIT" id="{8839C0F0-3A9A-C149-BA4B-A6AA26401E1A}" vid="{66AB4241-E2E7-544B-BAE4-A134C5883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</TotalTime>
  <Words>1629</Words>
  <Application>Microsoft Office PowerPoint</Application>
  <PresentationFormat>Widescreen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Georgia</vt:lpstr>
      <vt:lpstr>Minion</vt:lpstr>
      <vt:lpstr>Office Theme</vt:lpstr>
      <vt:lpstr>LifeLink: Smart Blood Donation &amp; Emergency Coordination Platform</vt:lpstr>
      <vt:lpstr>Content</vt:lpstr>
      <vt:lpstr>Problem Definition</vt:lpstr>
      <vt:lpstr>Introduction</vt:lpstr>
      <vt:lpstr>Motivation: Issues and Challenges</vt:lpstr>
      <vt:lpstr>Technology Stack</vt:lpstr>
      <vt:lpstr>Research Gap / Identified Challenges</vt:lpstr>
      <vt:lpstr>Objectives of the Project</vt:lpstr>
      <vt:lpstr>Proposed Framework / System Architecture</vt:lpstr>
      <vt:lpstr>Database Description (Prisma Schema)</vt:lpstr>
      <vt:lpstr>System Features &amp; Implementation Results</vt:lpstr>
      <vt:lpstr>Conclusion and Future Directions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Agrawal</dc:creator>
  <cp:lastModifiedBy>Siddhant Singh</cp:lastModifiedBy>
  <cp:revision>121</cp:revision>
  <dcterms:created xsi:type="dcterms:W3CDTF">2020-01-15T07:35:03Z</dcterms:created>
  <dcterms:modified xsi:type="dcterms:W3CDTF">2026-10-06T14:54:26Z</dcterms:modified>
</cp:coreProperties>
</file>